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Speaker: Nikita (~45s). Open with the PS3 scenario - 9:55am, lot says 47 free, you still circle 4 floors. Land on the spot-level vs lot-level distinction.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Speaker: Eswardeep (~60s). Emphasize 'no fine-tuning' - it's what makes the system deployable on a new camera in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Speaker: Praneeth (~60s). Sell the simplicity: no training, no learnable parameters, generalizes to a new camera in 2 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Speaker: Nikita (~30s). Mention that we INTENTIONALLY didn't train on CNRPark-EXT - the detect-then-assign pipeline doesn't need per-stall classifiers. Note that auto-extracted ROIs are fast but miss already-empty spots in frame 1 - we discuss this in failure analysis.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Speaker: Sandeep (~75s incl. demo). Both columns are REAL numbers from running our pipeline. Synthetic = 90-frame stress test (810 GT judgments, exact GT). UTD live = on-campus 19.9 s recording (165 manually labelled GT judgments). UTD live is FASTER (lower-res input) and STRONGER (real footage, less detection jitter than synthetic). Headline numbers to read: 89% accuracy, 99% precision, 23 FPS model / 17 FPS end-to-end. Then click the demo video on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Insert demo_video.mp4 here BEFORE rehearsal: Insert &gt; Video &gt; This Device... &gt; demo_video.mp4. Set to 'Start: Automatically'.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Speaker: Eswardeep (~30s). Pointing out failures earns marks; the rubric explicitly rewards 'discuss and analyze failures'.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Speaker: Praneeth (~30s). End on the 'questions?' before the 5:00 mark to leave time for the 1-min Q&amp;A.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Leave this on screen during Q&amp;A. Don't speak through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000" b="1">
                <a:solidFill>
                  <a:srgbClr val="C75500"/>
                </a:solidFill>
              </a:rPr>
              <a:t>UTD Parking Spot Occupancy Detector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YOLOv8 + Static-ROI IoU pipeline  |  CS 6384 - Group 34</a:t>
            </a:r>
          </a:p>
          <a:p>
            <a:r>
              <a:t>Nikita Ramachandran  |  Sandeep Jammula  |  Praneeth Kumar Rachepalli  |  Eswardeep Pujala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solidFill>
                  <a:srgbClr val="154E37"/>
                </a:solidFill>
              </a:rPr>
              <a:t>Problem &amp; 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2000">
                <a:solidFill>
                  <a:srgbClr val="222222"/>
                </a:solidFill>
              </a:rPr>
              <a:t>UTD is a commuter campus; peak-hour parking is a daily friction point.</a:t>
            </a:r>
          </a:p>
          <a:p>
            <a:pPr/>
            <a:r>
              <a:rPr sz="2000">
                <a:solidFill>
                  <a:srgbClr val="222222"/>
                </a:solidFill>
              </a:rPr>
              <a:t>Today's signs report only LOT-level counts, not SPOT-level.</a:t>
            </a:r>
          </a:p>
          <a:p>
            <a:pPr/>
            <a:r>
              <a:rPr sz="2000">
                <a:solidFill>
                  <a:srgbClr val="222222"/>
                </a:solidFill>
              </a:rPr>
              <a:t>Drivers waste fuel, time, and miss class circling rows.</a:t>
            </a:r>
          </a:p>
          <a:p>
            <a:pPr/>
            <a:r>
              <a:rPr sz="2000">
                <a:solidFill>
                  <a:srgbClr val="222222"/>
                </a:solidFill>
              </a:rPr>
              <a:t>Goal: per-spot Occupied/Empty in real time, no per-camera training.</a:t>
            </a:r>
          </a:p>
          <a:p>
            <a:pPr/>
            <a:r>
              <a:rPr sz="2000">
                <a:solidFill>
                  <a:srgbClr val="222222"/>
                </a:solidFill>
              </a:rPr>
              <a:t>Project category: Application-oriented.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solidFill>
                  <a:srgbClr val="154E37"/>
                </a:solidFill>
              </a:rPr>
              <a:t>Method 1/2 - YOLOv8 Vehicle Detection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2000">
                <a:solidFill>
                  <a:srgbClr val="222222"/>
                </a:solidFill>
              </a:rPr>
              <a:t>YOLOv8n (Ultralytics), pre-trained on COCO.</a:t>
            </a:r>
          </a:p>
          <a:p>
            <a:pPr/>
            <a:r>
              <a:rPr sz="2000">
                <a:solidFill>
                  <a:srgbClr val="222222"/>
                </a:solidFill>
              </a:rPr>
              <a:t>Restrict to 4 vehicle classes: car, motorcycle, bus, truck.</a:t>
            </a:r>
          </a:p>
          <a:p>
            <a:pPr/>
            <a:r>
              <a:rPr sz="2000">
                <a:solidFill>
                  <a:srgbClr val="222222"/>
                </a:solidFill>
              </a:rPr>
              <a:t>Confidence floor: 0.25.</a:t>
            </a:r>
          </a:p>
          <a:p>
            <a:pPr/>
            <a:r>
              <a:rPr sz="2000">
                <a:solidFill>
                  <a:srgbClr val="222222"/>
                </a:solidFill>
              </a:rPr>
              <a:t>No fine-tuning - COCO already covers overhead car shots.</a:t>
            </a:r>
          </a:p>
          <a:p>
            <a:pPr/>
            <a:r>
              <a:rPr sz="2000">
                <a:solidFill>
                  <a:srgbClr val="222222"/>
                </a:solidFill>
              </a:rPr>
              <a:t>Pipeline so far:  Frame -&gt; YOLOv8 -&gt; vehicle bounding boxes.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solidFill>
                  <a:srgbClr val="154E37"/>
                </a:solidFill>
              </a:rPr>
              <a:t>Method 2/2 - Static ROIs + IoU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2000">
                <a:solidFill>
                  <a:srgbClr val="222222"/>
                </a:solidFill>
              </a:rPr>
              <a:t>One-time setup: click 2 corners per spot (roi_picker.py).</a:t>
            </a:r>
          </a:p>
          <a:p>
            <a:pPr/>
            <a:r>
              <a:rPr sz="2000">
                <a:solidFill>
                  <a:srgbClr val="222222"/>
                </a:solidFill>
              </a:rPr>
              <a:t>Stored as JSON of axis-aligned boxes; reloaded at runtime.</a:t>
            </a:r>
          </a:p>
          <a:p>
            <a:pPr/>
            <a:r>
              <a:rPr sz="2000">
                <a:solidFill>
                  <a:srgbClr val="222222"/>
                </a:solidFill>
              </a:rPr>
              <a:t>Per frame, per spot: IoU(spot, vehicle).</a:t>
            </a:r>
          </a:p>
          <a:p>
            <a:pPr/>
            <a:r>
              <a:rPr sz="2000">
                <a:solidFill>
                  <a:srgbClr val="222222"/>
                </a:solidFill>
              </a:rPr>
              <a:t>Decision: Occupied iff max IoU &gt; 0.5 (PASCAL VOC convention).</a:t>
            </a:r>
          </a:p>
          <a:p>
            <a:pPr/>
            <a:r>
              <a:rPr sz="2000">
                <a:solidFill>
                  <a:srgbClr val="222222"/>
                </a:solidFill>
              </a:rPr>
              <a:t>Stateless, O(N x M) per frame, negligible vs detector cost.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solidFill>
                  <a:srgbClr val="154E37"/>
                </a:solidFill>
              </a:rPr>
              <a:t>Data &amp; Setup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2000">
                <a:solidFill>
                  <a:srgbClr val="222222"/>
                </a:solidFill>
              </a:rPr>
              <a:t>Custom UTD clip: 19.9 s @ 640x352 / 30 fps, upper floor, ~45 deg down.</a:t>
            </a:r>
          </a:p>
          <a:p>
            <a:pPr/>
            <a:r>
              <a:rPr sz="2000">
                <a:solidFill>
                  <a:srgbClr val="222222"/>
                </a:solidFill>
              </a:rPr>
              <a:t>Camera fully static (start frame ~ end frame).</a:t>
            </a:r>
          </a:p>
          <a:p>
            <a:pPr/>
            <a:r>
              <a:rPr sz="2000">
                <a:solidFill>
                  <a:srgbClr val="222222"/>
                </a:solidFill>
              </a:rPr>
              <a:t>33 ROIs auto-extracted from frame 1 (every spot with a car).</a:t>
            </a:r>
          </a:p>
          <a:p>
            <a:pPr/>
            <a:r>
              <a:rPr sz="2000">
                <a:solidFill>
                  <a:srgbClr val="222222"/>
                </a:solidFill>
              </a:rPr>
              <a:t>Ground truth: 5 frames x 33 spots = 165 manual labels.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solidFill>
                  <a:srgbClr val="154E37"/>
                </a:solidFill>
              </a:rPr>
              <a:t>Results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463040"/>
          <a:ext cx="77724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90800"/>
                <a:gridCol w="2590800"/>
                <a:gridCol w="2590800"/>
              </a:tblGrid>
              <a:tr h="522514">
                <a:tc>
                  <a:txBody>
                    <a:bodyPr/>
                    <a:lstStyle/>
                    <a:p>
                      <a:r>
                        <a:rPr b="1" sz="1800">
                          <a:solidFill>
                            <a:srgbClr val="FFFFFF"/>
                          </a:solidFill>
                        </a:rPr>
                        <a:t>Metric</a:t>
                      </a:r>
                    </a:p>
                  </a:txBody>
                  <a:tcPr>
                    <a:solidFill>
                      <a:srgbClr val="154E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800">
                          <a:solidFill>
                            <a:srgbClr val="FFFFFF"/>
                          </a:solidFill>
                        </a:rPr>
                        <a:t>Synthetic 90-frame</a:t>
                      </a:r>
                    </a:p>
                  </a:txBody>
                  <a:tcPr>
                    <a:solidFill>
                      <a:srgbClr val="154E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800">
                          <a:solidFill>
                            <a:srgbClr val="FFFFFF"/>
                          </a:solidFill>
                        </a:rPr>
                        <a:t>UTD live</a:t>
                      </a:r>
                    </a:p>
                  </a:txBody>
                  <a:tcPr>
                    <a:solidFill>
                      <a:srgbClr val="154E37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22222"/>
                          </a:solidFill>
                        </a:rPr>
                        <a:t>Occupancy 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22222"/>
                          </a:solidFill>
                        </a:rPr>
                        <a:t>79.6 %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22222"/>
                          </a:solidFill>
                        </a:rPr>
                        <a:t>89.1 %</a:t>
                      </a:r>
                    </a:p>
                  </a:txBody>
                  <a:tcPr/>
                </a:tc>
              </a:tr>
              <a:tr h="522514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22222"/>
                          </a:solidFill>
                        </a:rPr>
                        <a:t>Precision (Occupied)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22222"/>
                          </a:solidFill>
                        </a:rPr>
                        <a:t>100.0 %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22222"/>
                          </a:solidFill>
                        </a:rPr>
                        <a:t>98.6 %</a:t>
                      </a:r>
                    </a:p>
                  </a:txBody>
                  <a:tcPr/>
                </a:tc>
              </a:tr>
              <a:tr h="522514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22222"/>
                          </a:solidFill>
                        </a:rPr>
                        <a:t>Recall (Occupied)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22222"/>
                          </a:solidFill>
                        </a:rPr>
                        <a:t>74.2 %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22222"/>
                          </a:solidFill>
                        </a:rPr>
                        <a:t>89.7 %</a:t>
                      </a:r>
                    </a:p>
                  </a:txBody>
                  <a:tcPr/>
                </a:tc>
              </a:tr>
              <a:tr h="522514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22222"/>
                          </a:solidFill>
                        </a:rPr>
                        <a:t>F1 (Occupied)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22222"/>
                          </a:solidFill>
                        </a:rPr>
                        <a:t>85.2 %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22222"/>
                          </a:solidFill>
                        </a:rPr>
                        <a:t>94.0 %</a:t>
                      </a:r>
                    </a:p>
                  </a:txBody>
                  <a:tcPr/>
                </a:tc>
              </a:tr>
              <a:tr h="522514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22222"/>
                          </a:solidFill>
                        </a:rPr>
                        <a:t>Inference FPS (CPU, 640x640)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22222"/>
                          </a:solidFill>
                        </a:rPr>
                        <a:t>5.9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22222"/>
                          </a:solidFill>
                        </a:rPr>
                        <a:t>22.9</a:t>
                      </a:r>
                    </a:p>
                  </a:txBody>
                  <a:tcPr/>
                </a:tc>
              </a:tr>
              <a:tr h="522516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22222"/>
                          </a:solidFill>
                        </a:rPr>
                        <a:t>End-to-end FPS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22222"/>
                          </a:solidFill>
                        </a:rPr>
                        <a:t>4.8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22222"/>
                          </a:solidFill>
                        </a:rPr>
                        <a:t>16.9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40080" y="530352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i="1" sz="1400">
                <a:solidFill>
                  <a:srgbClr val="666666"/>
                </a:solidFill>
              </a:rPr>
              <a:t>Embed demo_video.mp4 on the next slide / on click.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solidFill>
                  <a:srgbClr val="154E37"/>
                </a:solidFill>
              </a:rPr>
              <a:t>Live Demo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2000">
                <a:solidFill>
                  <a:srgbClr val="222222"/>
                </a:solidFill>
              </a:rPr>
              <a:t>Green = Empty,  Red = Occupied.</a:t>
            </a:r>
          </a:p>
          <a:p>
            <a:pPr/>
            <a:r>
              <a:rPr sz="2000">
                <a:solidFill>
                  <a:srgbClr val="222222"/>
                </a:solidFill>
              </a:rPr>
              <a:t>HUD: live FPS and Occupied/Total counter.</a:t>
            </a:r>
          </a:p>
          <a:p>
            <a:pPr/>
            <a:r>
              <a:rPr sz="2000">
                <a:solidFill>
                  <a:srgbClr val="222222"/>
                </a:solidFill>
              </a:rPr>
              <a:t>Watch one spot flip as a car backs in.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solidFill>
                  <a:srgbClr val="154E37"/>
                </a:solidFill>
              </a:rPr>
              <a:t>Failure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2000">
                <a:solidFill>
                  <a:srgbClr val="222222"/>
                </a:solidFill>
              </a:rPr>
              <a:t>Occlusion: foreground truck hides back-row spot -&gt; false Occupied.</a:t>
            </a:r>
          </a:p>
          <a:p>
            <a:pPr/>
            <a:r>
              <a:rPr sz="2000">
                <a:solidFill>
                  <a:srgbClr val="222222"/>
                </a:solidFill>
              </a:rPr>
              <a:t>Off-line parking: vehicle crosses painted line -&gt; IoU &lt; 0.5 -&gt; false Empty.</a:t>
            </a:r>
          </a:p>
          <a:p>
            <a:pPr/>
            <a:r>
              <a:rPr sz="2000">
                <a:solidFill>
                  <a:srgbClr val="222222"/>
                </a:solidFill>
              </a:rPr>
              <a:t>Camera drift: small physical shift misaligns every ROI.</a:t>
            </a:r>
          </a:p>
          <a:p>
            <a:pPr/>
            <a:r>
              <a:rPr sz="2000">
                <a:solidFill>
                  <a:srgbClr val="222222"/>
                </a:solidFill>
              </a:rPr>
              <a:t>Top-down (~90 deg) views: COCO YOLO mis-classifies cars as appliances.</a:t>
            </a:r>
          </a:p>
          <a:p>
            <a:pPr/>
            <a:r>
              <a:rPr sz="2000">
                <a:solidFill>
                  <a:srgbClr val="222222"/>
                </a:solidFill>
              </a:rPr>
              <a:t>Auto-ROIs from frame 1 miss already-empty spots and pick up driving-lane vehicles.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solidFill>
                  <a:srgbClr val="154E37"/>
                </a:solidFill>
              </a:rPr>
              <a:t>Conclusion &amp;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2000">
                <a:solidFill>
                  <a:srgbClr val="222222"/>
                </a:solidFill>
              </a:rPr>
              <a:t>Real-time per-spot occupancy with NO per-camera training.</a:t>
            </a:r>
          </a:p>
          <a:p>
            <a:pPr/>
            <a:r>
              <a:rPr sz="2000">
                <a:solidFill>
                  <a:srgbClr val="222222"/>
                </a:solidFill>
              </a:rPr>
              <a:t>Next: polygonal ROIs, periodic re-registration via line fiducials.</a:t>
            </a:r>
          </a:p>
          <a:p>
            <a:pPr/>
            <a:r>
              <a:rPr sz="2000">
                <a:solidFill>
                  <a:srgbClr val="222222"/>
                </a:solidFill>
              </a:rPr>
              <a:t>Multi-camera fusion to recover occluded back rows.</a:t>
            </a:r>
          </a:p>
          <a:p>
            <a:pPr/>
            <a:r>
              <a:rPr sz="2000">
                <a:solidFill>
                  <a:srgbClr val="222222"/>
                </a:solidFill>
              </a:rPr>
              <a:t>Code, report, and demo video are in the submission zip.</a:t>
            </a:r>
          </a:p>
          <a:p>
            <a:pPr/>
            <a:r>
              <a:rPr sz="2000">
                <a:solidFill>
                  <a:srgbClr val="222222"/>
                </a:solidFill>
              </a:rPr>
              <a:t>Thank you - questions?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solidFill>
                  <a:srgbClr val="154E37"/>
                </a:solidFill>
              </a:rPr>
              <a:t>Q&amp;A backup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2000">
                <a:solidFill>
                  <a:srgbClr val="222222"/>
                </a:solidFill>
              </a:rPr>
              <a:t>Q: Why not train per-spot like CNRPark-EXT?  A: To avoid per-camera training; detect-then-assign generalizes.</a:t>
            </a:r>
          </a:p>
          <a:p>
            <a:pPr/>
            <a:r>
              <a:rPr sz="2000">
                <a:solidFill>
                  <a:srgbClr val="222222"/>
                </a:solidFill>
              </a:rPr>
              <a:t>Q: Why YOLOv8n vs v8m/l?  A: Real-time on CPU; bigger weights cost 5-10x latency for ~1-2 mAP.</a:t>
            </a:r>
          </a:p>
          <a:p>
            <a:pPr/>
            <a:r>
              <a:rPr sz="2000">
                <a:solidFill>
                  <a:srgbClr val="222222"/>
                </a:solidFill>
              </a:rPr>
              <a:t>Q: Why IoU 0.5?  A: PASCAL VOC convention + best F1 in our ablation (0.3,0.4,0.5,0.6).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