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Nikita (~45s). Open with the PS3 scenario - 9:55am, lot says 47 free, you still circle 4 floors. Land on the spot-level vs lot-level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Eswardeep (~60s). Emphasize 'no fine-tuning' - it's what makes the system deployable on a new camera in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Praneeth (~60s). Sell the simplicity: no training, no learnable parameters, generalizes to a new camera in 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Nikita (~30s). Mention that we INTENTIONALLY didn't train on CNRPark-EXT - the detect-then-assign pipeline doesn't need per-stall classifiers. The 17 spots cover a fully unoccluded front row and two partially-occluded back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Sandeep (~75s incl. demo). Both columns are REAL numbers. Headline: 97.6% accuracy and 98.2% F1 on the on-campus video, with only TWO total per-judgment errors out of 85 (one false positive + one false negative on adjacent back-row spots where a vehicle straddles the ROI boundary). 17 FPS on a laptop CPU. Then click the demo video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Insert demo_video.mp4 here BEFORE rehearsal: Insert &gt; Video &gt; This Device... &gt; demo_video.mp4. Set to 'Start: Automatically'.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Eswardeep (~30s). Pointing out failures earns marks; the rubric explicitly rewards 'discuss and analyze failures'.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Praneeth (~30s). End on the 'questions?' before the 5:00 mark to leave time for the 1-min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on screen during Q&amp;A. Don't speak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C75500"/>
                </a:solidFill>
              </a:rPr>
              <a:t>UTD Parking Spot Occupancy Detector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YOLOv8 + Static-ROI IoU pipeline  |  CS 6384 - Group 34</a:t>
            </a:r>
          </a:p>
          <a:p>
            <a:r>
              <a:t>Nikita Ramachandran  |  Sandeep Jammula  |  Praneeth Kumar Rachepalli  |  Eswardeep Pujala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Problem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UTD is a commuter campus; peak-hour parking is a daily friction point.</a:t>
            </a:r>
          </a:p>
          <a:p>
            <a:pPr/>
            <a:r>
              <a:rPr sz="2000">
                <a:solidFill>
                  <a:srgbClr val="222222"/>
                </a:solidFill>
              </a:rPr>
              <a:t>Today's signs report only LOT-level counts, not SPOT-level.</a:t>
            </a:r>
          </a:p>
          <a:p>
            <a:pPr/>
            <a:r>
              <a:rPr sz="2000">
                <a:solidFill>
                  <a:srgbClr val="222222"/>
                </a:solidFill>
              </a:rPr>
              <a:t>Drivers waste fuel, time, and miss class circling rows.</a:t>
            </a:r>
          </a:p>
          <a:p>
            <a:pPr/>
            <a:r>
              <a:rPr sz="2000">
                <a:solidFill>
                  <a:srgbClr val="222222"/>
                </a:solidFill>
              </a:rPr>
              <a:t>Goal: per-spot Occupied/Empty in real time, no per-camera training.</a:t>
            </a:r>
          </a:p>
          <a:p>
            <a:pPr/>
            <a:r>
              <a:rPr sz="2000">
                <a:solidFill>
                  <a:srgbClr val="222222"/>
                </a:solidFill>
              </a:rPr>
              <a:t>Project category: Application-oriented.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Method 1/2 - YOLOv8 Vehicle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YOLOv8n (Ultralytics), pre-trained on COCO.</a:t>
            </a:r>
          </a:p>
          <a:p>
            <a:pPr/>
            <a:r>
              <a:rPr sz="2000">
                <a:solidFill>
                  <a:srgbClr val="222222"/>
                </a:solidFill>
              </a:rPr>
              <a:t>Restrict to 4 vehicle classes: car, motorcycle, bus, truck.</a:t>
            </a:r>
          </a:p>
          <a:p>
            <a:pPr/>
            <a:r>
              <a:rPr sz="2000">
                <a:solidFill>
                  <a:srgbClr val="222222"/>
                </a:solidFill>
              </a:rPr>
              <a:t>Confidence floor: 0.25.</a:t>
            </a:r>
          </a:p>
          <a:p>
            <a:pPr/>
            <a:r>
              <a:rPr sz="2000">
                <a:solidFill>
                  <a:srgbClr val="222222"/>
                </a:solidFill>
              </a:rPr>
              <a:t>No fine-tuning - COCO already covers overhead car shots.</a:t>
            </a:r>
          </a:p>
          <a:p>
            <a:pPr/>
            <a:r>
              <a:rPr sz="2000">
                <a:solidFill>
                  <a:srgbClr val="222222"/>
                </a:solidFill>
              </a:rPr>
              <a:t>Pipeline so far:  Frame -&gt; YOLOv8 -&gt; vehicle bounding boxes.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Method 2/2 - Static ROIs + IoU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One-time setup: click 2 corners per spot (roi_picker.py).</a:t>
            </a:r>
          </a:p>
          <a:p>
            <a:pPr/>
            <a:r>
              <a:rPr sz="2000">
                <a:solidFill>
                  <a:srgbClr val="222222"/>
                </a:solidFill>
              </a:rPr>
              <a:t>Stored as JSON of axis-aligned boxes; reloaded at runtime.</a:t>
            </a:r>
          </a:p>
          <a:p>
            <a:pPr/>
            <a:r>
              <a:rPr sz="2000">
                <a:solidFill>
                  <a:srgbClr val="222222"/>
                </a:solidFill>
              </a:rPr>
              <a:t>Per frame, per spot: IoU(spot, vehicle).</a:t>
            </a:r>
          </a:p>
          <a:p>
            <a:pPr/>
            <a:r>
              <a:rPr sz="2000">
                <a:solidFill>
                  <a:srgbClr val="222222"/>
                </a:solidFill>
              </a:rPr>
              <a:t>Decision: Occupied iff max IoU &gt; 0.5 (PASCAL VOC convention).</a:t>
            </a:r>
          </a:p>
          <a:p>
            <a:pPr/>
            <a:r>
              <a:rPr sz="2000">
                <a:solidFill>
                  <a:srgbClr val="222222"/>
                </a:solidFill>
              </a:rPr>
              <a:t>Stateless, O(N x M) per frame, negligible vs detector cost.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Data &amp;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Custom UTD clip: 41 s @ 848x464 / 30 fps, upper-floor walkway, ~30 deg down.</a:t>
            </a:r>
          </a:p>
          <a:p>
            <a:pPr/>
            <a:r>
              <a:rPr sz="2000">
                <a:solidFill>
                  <a:srgbClr val="222222"/>
                </a:solidFill>
              </a:rPr>
              <a:t>Camera fully static (start frame = end frame).</a:t>
            </a:r>
          </a:p>
          <a:p>
            <a:pPr/>
            <a:r>
              <a:rPr sz="2000">
                <a:solidFill>
                  <a:srgbClr val="222222"/>
                </a:solidFill>
              </a:rPr>
              <a:t>17 parking-spot ROIs covering 3 rows, manually registered with roi_picker.py.</a:t>
            </a:r>
          </a:p>
          <a:p>
            <a:pPr/>
            <a:r>
              <a:rPr sz="2000">
                <a:solidFill>
                  <a:srgbClr val="222222"/>
                </a:solidFill>
              </a:rPr>
              <a:t>Ground truth: 5 frames x 17 spots = 85 manual labels.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7772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22514"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54E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</a:rPr>
                        <a:t>Synthetic 90-frame</a:t>
                      </a:r>
                    </a:p>
                  </a:txBody>
                  <a:tcPr>
                    <a:solidFill>
                      <a:srgbClr val="154E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</a:rPr>
                        <a:t>UTD live</a:t>
                      </a:r>
                    </a:p>
                  </a:txBody>
                  <a:tcPr>
                    <a:solidFill>
                      <a:srgbClr val="154E3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Occupancy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79.6 %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97.6 %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Precision (Occupied)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100.0 %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98.2 %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Recall (Occupied)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74.2 %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98.2 %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F1 (Occupied)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85.2 %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98.2 %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Inference FPS (CPU)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17.3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End-to-end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15.7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30352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1400">
                <a:solidFill>
                  <a:srgbClr val="666666"/>
                </a:solidFill>
              </a:rPr>
              <a:t>Embed demo_video.mp4 on the next slide / on click.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Live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Green = Empty,  Red = Occupied.</a:t>
            </a:r>
          </a:p>
          <a:p>
            <a:pPr/>
            <a:r>
              <a:rPr sz="2000">
                <a:solidFill>
                  <a:srgbClr val="222222"/>
                </a:solidFill>
              </a:rPr>
              <a:t>HUD: live FPS and Occupied/Total counter.</a:t>
            </a:r>
          </a:p>
          <a:p>
            <a:pPr/>
            <a:r>
              <a:rPr sz="2000">
                <a:solidFill>
                  <a:srgbClr val="222222"/>
                </a:solidFill>
              </a:rPr>
              <a:t>Watch one spot flip as a car backs 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Failure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ROI sizing matters: tight ROIs -&gt; low recall (64%); proper ROIs -&gt; 98% recall.</a:t>
            </a:r>
          </a:p>
          <a:p>
            <a:pPr/>
            <a:r>
              <a:rPr sz="2000">
                <a:solidFill>
                  <a:srgbClr val="222222"/>
                </a:solidFill>
              </a:rPr>
              <a:t>Boundary-straddling vehicles cause both an FP and an FN on adjacent spots.</a:t>
            </a:r>
          </a:p>
          <a:p>
            <a:pPr/>
            <a:r>
              <a:rPr sz="2000">
                <a:solidFill>
                  <a:srgbClr val="222222"/>
                </a:solidFill>
              </a:rPr>
              <a:t>Top-down (~90 deg) views: COCO YOLO mis-classifies cars as appliances.</a:t>
            </a:r>
          </a:p>
          <a:p>
            <a:pPr/>
            <a:r>
              <a:rPr sz="2000">
                <a:solidFill>
                  <a:srgbClr val="222222"/>
                </a:solidFill>
              </a:rPr>
              <a:t>Camera drift: small physical shift misaligns every ROI.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Real-time per-spot occupancy with NO per-camera training.</a:t>
            </a:r>
          </a:p>
          <a:p>
            <a:pPr/>
            <a:r>
              <a:rPr sz="2000">
                <a:solidFill>
                  <a:srgbClr val="222222"/>
                </a:solidFill>
              </a:rPr>
              <a:t>Next: polygonal ROIs, periodic re-registration via line fiducials.</a:t>
            </a:r>
          </a:p>
          <a:p>
            <a:pPr/>
            <a:r>
              <a:rPr sz="2000">
                <a:solidFill>
                  <a:srgbClr val="222222"/>
                </a:solidFill>
              </a:rPr>
              <a:t>Multi-camera fusion to recover occluded back rows.</a:t>
            </a:r>
          </a:p>
          <a:p>
            <a:pPr/>
            <a:r>
              <a:rPr sz="2000">
                <a:solidFill>
                  <a:srgbClr val="222222"/>
                </a:solidFill>
              </a:rPr>
              <a:t>Code, report, and demo video are in the submission zip.</a:t>
            </a:r>
          </a:p>
          <a:p>
            <a:pPr/>
            <a:r>
              <a:rPr sz="2000">
                <a:solidFill>
                  <a:srgbClr val="222222"/>
                </a:solidFill>
              </a:rPr>
              <a:t>Thank you - questions?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Q&amp;A backup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Q: Why not train per-spot like CNRPark-EXT?  A: To avoid per-camera training; detect-then-assign generalizes.</a:t>
            </a:r>
          </a:p>
          <a:p>
            <a:pPr/>
            <a:r>
              <a:rPr sz="2000">
                <a:solidFill>
                  <a:srgbClr val="222222"/>
                </a:solidFill>
              </a:rPr>
              <a:t>Q: Why YOLOv8n vs v8m/l?  A: Real-time on CPU; bigger weights cost 5-10x latency for ~1-2 mAP.</a:t>
            </a:r>
          </a:p>
          <a:p>
            <a:pPr/>
            <a:r>
              <a:rPr sz="2000">
                <a:solidFill>
                  <a:srgbClr val="222222"/>
                </a:solidFill>
              </a:rPr>
              <a:t>Q: Why IoU 0.5?  A: PASCAL VOC convention + best F1 in our ablation (0.3,0.4,0.5,0.6).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