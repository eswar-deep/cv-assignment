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Nikita (~40 s). Open with the relatable scene - PS3 at 9:55 AM, sign says '47 free' but every spot light is lying. Land on: existing infrastructure measures the WRONG thing (lot total) or fails silently (per-spot sensors).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Nikita (~45 s). Punchline: 'all three either ignore the driver's actual question or require expensive infrastructure / retraining for every camera. We use the cameras that already exist with zero per-camera retraining.'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Eswardeep (~60 s). Walk the audience through the four panels left-to-right. Stress: 'YOLOv8 already knows what cars look like from millions of COCO images, so we don't train anything. We just teach the system WHERE the spots are, once.'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Eswardeep -&gt; Praneeth (~45 s). 41 s clip, 848x464, 30 fps, 17 ROIs, 85 ground-truth judgments. That is the TOTAL manual effort - per camera, ever. Mention: this is the real screenshot from our tools, not a mockup of someone else's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Praneeth (~60 s). Both columns of the chart are real measurements. Two errors total in 85 judgments - that's the number to memorise. 17 FPS on a laptop CPU = real-time. Then click into the demo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PowerPoint: Insert &gt; Video &gt; This Device &gt; results/utd_demo.mp4 &gt; Start: Automatically. Trim to ~30 s if your section will overrun the 5:00 cap. Backup: keep data/frames/utd_demo_snapshot.jpg as a still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Sandeep (~30 s). This is the clear improvement line the audience asks for. We never touched YOLO weights. Engineering rigor lives in the ROI design, not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Sandeep (~30 s). Be direct about the limits - the rubric explicitly rewards 'discuss and analyze failures.' Reference data/frames/carpark_diagnose_annotated.jpg as empirical proof of the top-down failure mode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Sandeep (~30 s). End BEFORE 5:00 to leave the full 1 minute for Q&amp;A. The 'daily-life impact' bullet is the punchline - hammer the spot-level vs lot-level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on screen during Q&amp;A. Don't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C75500"/>
                </a:solidFill>
              </a:rPr>
              <a:t>UTD Parking Spot Occupancy Detector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Turning the cameras you already have into a real-time spot-by-spot map</a:t>
            </a:r>
          </a:p>
          <a:p>
            <a:r>
              <a:t>Group 34  |  CS 6384 Computer Vision  |  Nikita Ramachandran, Sandeep Jammula, Praneeth Kumar Rachepalli, Eswardeep Pujala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The parking circle is a daily UTD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Commuter campus: 30k+ daily parkers, peak demand 9-11 AM.</a:t>
            </a:r>
          </a:p>
          <a:p>
            <a:pPr/>
            <a:r>
              <a:rPr sz="2000">
                <a:solidFill>
                  <a:srgbClr val="222222"/>
                </a:solidFill>
              </a:rPr>
              <a:t>Today's structures show LOT-level totals (e.g. 'PS3: 47 free').</a:t>
            </a:r>
          </a:p>
          <a:p>
            <a:pPr/>
            <a:r>
              <a:rPr sz="2000">
                <a:solidFill>
                  <a:srgbClr val="222222"/>
                </a:solidFill>
              </a:rPr>
              <a:t>Per-spot indicator lights are stuck-on / stuck-off across many spots.</a:t>
            </a:r>
          </a:p>
          <a:p>
            <a:pPr/>
            <a:r>
              <a:rPr sz="2000">
                <a:solidFill>
                  <a:srgbClr val="222222"/>
                </a:solidFill>
              </a:rPr>
              <a:t>Drivers still climb every floor to actually find a space.</a:t>
            </a:r>
          </a:p>
          <a:p>
            <a:pPr/>
            <a:r>
              <a:rPr sz="2000">
                <a:solidFill>
                  <a:srgbClr val="222222"/>
                </a:solidFill>
              </a:rPr>
              <a:t>Goal: tell a driver WHICH spots are open, before they enter the 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54E37"/>
                </a:solidFill>
              </a:rPr>
              <a:t>Existing solutions vs. what drivers actually need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58367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What it gives you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What's broken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Gate-loop 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Lot-level total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Driver still circles every floor</a:t>
                      </a:r>
                    </a:p>
                  </a:txBody>
                  <a:tcPr/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Per-spot ultrasonic / IR / magnetometer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One bit per spot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$50-150 per spot x thousands of spots; drift, weather, vandalism</a:t>
                      </a:r>
                    </a:p>
                  </a:txBody>
                  <a:tcPr/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Patch classifier (CNRPark, PKLot)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One CNN per spot crop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Needs per-camera training data; brittle to new lighting</a:t>
                      </a:r>
                    </a:p>
                  </a:txBody>
                  <a:tcPr/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Our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Per-spot Occupied / Open in real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Uses existing camera; one human click pair per spot; no training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54E37"/>
                </a:solidFill>
              </a:rPr>
              <a:t>How the model works  |  Frame -&gt; YOLOv8 -&gt; ROIs -&gt; IoU &gt; 0.5</a:t>
            </a:r>
          </a:p>
        </p:txBody>
      </p:sp>
      <p:pic>
        <p:nvPicPr>
          <p:cNvPr id="3" name="Picture 2" descr="pipeline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058400" cy="63288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1) Detector: YOLOv8n (Ultralytics, 6 MB), COCO weights, filtered to {car, truck, bus, motorcycle}.  2) Registration: click 2 corners per spot once -&gt; rois.json.  3) Decision: per spot, if max IoU with any vehicle &gt; 0.5 -&gt; Occupied (red), else Open (green). No training.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54E37"/>
                </a:solidFill>
              </a:rPr>
              <a:t>Setup: register once, label ground truth once</a:t>
            </a:r>
          </a:p>
        </p:txBody>
      </p:sp>
      <p:pic>
        <p:nvPicPr>
          <p:cNvPr id="3" name="Picture 2" descr="roi_labe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486400" cy="3001992"/>
          </a:xfrm>
          <a:prstGeom prst="rect">
            <a:avLst/>
          </a:prstGeom>
        </p:spPr>
      </p:pic>
      <p:pic>
        <p:nvPicPr>
          <p:cNvPr id="4" name="Picture 3" descr="gt_labe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486400" cy="3001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0292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1. roi_picker.py - click two corners per spot, save rois.json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50292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2. label_gt.py - press o (occupied) / e (empty) per spot, 5 frames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54E37"/>
                </a:solidFill>
              </a:rPr>
              <a:t>Results on the live UTD recording</a:t>
            </a:r>
          </a:p>
        </p:txBody>
      </p:sp>
      <p:pic>
        <p:nvPicPr>
          <p:cNvPr id="3" name="Picture 2" descr="result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7772400" cy="4533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128016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154E37"/>
                </a:solidFill>
              </a:rPr>
              <a:t>Headline numbers (UTD live)</a:t>
            </a:r>
          </a:p>
          <a:p>
            <a:r>
              <a:rPr sz="1300">
                <a:solidFill>
                  <a:srgbClr val="666666"/>
                </a:solidFill>
              </a:rPr>
              <a:t>Accuracy</a:t>
            </a:r>
          </a:p>
          <a:p>
            <a:r>
              <a:rPr sz="2000" b="1">
                <a:solidFill>
                  <a:srgbClr val="222222"/>
                </a:solidFill>
              </a:rPr>
              <a:t>97.6 %</a:t>
            </a:r>
          </a:p>
          <a:p>
            <a:r>
              <a:rPr sz="1300">
                <a:solidFill>
                  <a:srgbClr val="666666"/>
                </a:solidFill>
              </a:rPr>
              <a:t>Precision</a:t>
            </a:r>
          </a:p>
          <a:p>
            <a:r>
              <a:rPr sz="2000" b="1">
                <a:solidFill>
                  <a:srgbClr val="222222"/>
                </a:solidFill>
              </a:rPr>
              <a:t>98.2 %</a:t>
            </a:r>
          </a:p>
          <a:p>
            <a:r>
              <a:rPr sz="1300">
                <a:solidFill>
                  <a:srgbClr val="666666"/>
                </a:solidFill>
              </a:rPr>
              <a:t>Recall</a:t>
            </a:r>
          </a:p>
          <a:p>
            <a:r>
              <a:rPr sz="2000" b="1">
                <a:solidFill>
                  <a:srgbClr val="222222"/>
                </a:solidFill>
              </a:rPr>
              <a:t>98.2 %</a:t>
            </a:r>
          </a:p>
          <a:p>
            <a:r>
              <a:rPr sz="1300">
                <a:solidFill>
                  <a:srgbClr val="666666"/>
                </a:solidFill>
              </a:rPr>
              <a:t>F1</a:t>
            </a:r>
          </a:p>
          <a:p>
            <a:r>
              <a:rPr sz="2000" b="1">
                <a:solidFill>
                  <a:srgbClr val="222222"/>
                </a:solidFill>
              </a:rPr>
              <a:t>98.2 %</a:t>
            </a:r>
          </a:p>
          <a:p>
            <a:r>
              <a:rPr sz="1300">
                <a:solidFill>
                  <a:srgbClr val="666666"/>
                </a:solidFill>
              </a:rPr>
              <a:t>Inference (CPU, model only)</a:t>
            </a:r>
          </a:p>
          <a:p>
            <a:r>
              <a:rPr sz="2000" b="1">
                <a:solidFill>
                  <a:srgbClr val="222222"/>
                </a:solidFill>
              </a:rPr>
              <a:t>17.3 FPS</a:t>
            </a:r>
          </a:p>
          <a:p>
            <a:r>
              <a:rPr sz="1300">
                <a:solidFill>
                  <a:srgbClr val="666666"/>
                </a:solidFill>
              </a:rPr>
              <a:t>End-to-end FPS</a:t>
            </a:r>
          </a:p>
          <a:p>
            <a:r>
              <a:rPr sz="2000" b="1">
                <a:solidFill>
                  <a:srgbClr val="222222"/>
                </a:solidFill>
              </a:rPr>
              <a:t>15.7 FPS</a:t>
            </a:r>
          </a:p>
          <a:p>
            <a:r>
              <a:rPr sz="1300">
                <a:solidFill>
                  <a:srgbClr val="666666"/>
                </a:solidFill>
              </a:rPr>
              <a:t>Errors</a:t>
            </a:r>
          </a:p>
          <a:p>
            <a:r>
              <a:rPr sz="2000" b="1">
                <a:solidFill>
                  <a:srgbClr val="222222"/>
                </a:solidFill>
              </a:rPr>
              <a:t>2 / 85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Live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Red = Occupied,  Green = Open.</a:t>
            </a:r>
          </a:p>
          <a:p>
            <a:pPr/>
            <a:r>
              <a:rPr sz="2000">
                <a:solidFill>
                  <a:srgbClr val="222222"/>
                </a:solidFill>
              </a:rPr>
              <a:t>HUD: live FPS  |  Occupied count (red)  |  Open count (green).</a:t>
            </a:r>
          </a:p>
          <a:p>
            <a:pPr/>
            <a:r>
              <a:rPr sz="2000">
                <a:solidFill>
                  <a:srgbClr val="222222"/>
                </a:solidFill>
              </a:rPr>
              <a:t>Watch a spot flip as a car arrives or leaves.</a:t>
            </a:r>
          </a:p>
          <a:p>
            <a:pPr/>
            <a:r>
              <a:rPr sz="2000">
                <a:solidFill>
                  <a:srgbClr val="222222"/>
                </a:solidFill>
              </a:rPr>
              <a:t>[Insert results/utd_demo.mp4 here in PowerPoint.]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54E37"/>
                </a:solidFill>
              </a:rPr>
              <a:t>From 64% recall to 98% - by REDRAWING rectangles, not retraining</a:t>
            </a:r>
          </a:p>
        </p:txBody>
      </p:sp>
      <p:pic>
        <p:nvPicPr>
          <p:cNvPr id="3" name="Picture 2" descr="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058400" cy="5669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Round 1 (tight slivers along painted lines): 63.8% recall - ROIs traced visible asphalt, missed the actual car bodies.  Round 2 (car-sized boxes): 79.7%.  Round 3 (enlarged foreground rectangles to match perspective): 98.2%. In a static-ROI system, the ROI IS the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Failure analysis (and how to fix 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Top-down (~90 deg) cameras: COCO YOLO mis-classifies cars as ovens / microwaves -&gt; mount cameras at 30-60 deg.</a:t>
            </a:r>
          </a:p>
          <a:p>
            <a:pPr/>
            <a:r>
              <a:rPr sz="2000">
                <a:solidFill>
                  <a:srgbClr val="222222"/>
                </a:solidFill>
              </a:rPr>
              <a:t>Heavy occlusion in back rows: a foreground SUV can hide a back-row spot -&gt; recover with a second camera or polygonal ROIs.</a:t>
            </a:r>
          </a:p>
          <a:p>
            <a:pPr/>
            <a:r>
              <a:rPr sz="2000">
                <a:solidFill>
                  <a:srgbClr val="222222"/>
                </a:solidFill>
              </a:rPr>
              <a:t>Boundary-straddling vehicles: 1 FP + 1 FN on adjacent spots, a case where humans also disagree.</a:t>
            </a:r>
          </a:p>
          <a:p>
            <a:pPr/>
            <a:r>
              <a:rPr sz="2000">
                <a:solidFill>
                  <a:srgbClr val="222222"/>
                </a:solidFill>
              </a:rPr>
              <a:t>Camera physical drift: every ROI shifts together -&gt; periodic re-registration against painted-line fiducials.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Conclusion: real-time, training-free, $0 per-spot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97.6% accuracy and 98.2% F1 on a real UTD lot, at 17 FPS on a CPU.</a:t>
            </a:r>
          </a:p>
          <a:p>
            <a:pPr/>
            <a:r>
              <a:rPr sz="2000">
                <a:solidFill>
                  <a:srgbClr val="222222"/>
                </a:solidFill>
              </a:rPr>
              <a:t>Uses cameras that already exist; new camera is ready in ~5 min (click ROIs once).</a:t>
            </a:r>
          </a:p>
          <a:p>
            <a:pPr/>
            <a:r>
              <a:rPr sz="2000">
                <a:solidFill>
                  <a:srgbClr val="222222"/>
                </a:solidFill>
              </a:rPr>
              <a:t>Daily-life impact: a phone app could say 'Floor 3, North row, 6 open spots' before a driver enters the structure.</a:t>
            </a:r>
          </a:p>
          <a:p>
            <a:pPr/>
            <a:r>
              <a:rPr sz="2000">
                <a:solidFill>
                  <a:srgbClr val="222222"/>
                </a:solidFill>
              </a:rPr>
              <a:t>Future: auto-ROI from a short calibration video, multi-camera fusion, edge deployment on Jetson / Raspberry Pi.</a:t>
            </a:r>
          </a:p>
          <a:p>
            <a:pPr/>
            <a:r>
              <a:rPr sz="2000">
                <a:solidFill>
                  <a:srgbClr val="222222"/>
                </a:solidFill>
              </a:rPr>
              <a:t>Thank you - questions?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Q&amp;A backup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Q: Why not train per-spot like CNRPark-EXT?  A: To avoid per-camera training data; detect-then-assign generalises to any new view in 2 min of clicks.</a:t>
            </a:r>
          </a:p>
          <a:p>
            <a:pPr/>
            <a:r>
              <a:rPr sz="2000">
                <a:solidFill>
                  <a:srgbClr val="222222"/>
                </a:solidFill>
              </a:rPr>
              <a:t>Q: Why YOLOv8n vs v8m / v8l?  A: Real-time on CPU; bigger weights cost 5-10x latency for ~1-2 mAP gain we don't need.</a:t>
            </a:r>
          </a:p>
          <a:p>
            <a:pPr/>
            <a:r>
              <a:rPr sz="2000">
                <a:solidFill>
                  <a:srgbClr val="222222"/>
                </a:solidFill>
              </a:rPr>
              <a:t>Q: Why IoU 0.5?  A: PASCAL VOC convention + best F1 in our ablation over {0.3, 0.4, 0.5, 0.6}.</a:t>
            </a:r>
          </a:p>
          <a:p>
            <a:pPr/>
            <a:r>
              <a:rPr sz="2000">
                <a:solidFill>
                  <a:srgbClr val="222222"/>
                </a:solidFill>
              </a:rPr>
              <a:t>Q: Could you fine-tune on UTD images?  A: Yes, but the point of this system is that you DON'T have 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